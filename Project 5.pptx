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chivo Black" charset="1" panose="020B0A03020202020B04"/>
      <p:regular r:id="rId26"/>
    </p:embeddedFont>
    <p:embeddedFont>
      <p:font typeface="Raleway Bold" charset="1" panose="00000000000000000000"/>
      <p:regular r:id="rId27"/>
    </p:embeddedFont>
    <p:embeddedFont>
      <p:font typeface="Raleway" charset="1" panose="00000000000000000000"/>
      <p:regular r:id="rId28"/>
    </p:embeddedFont>
    <p:embeddedFont>
      <p:font typeface="Raleway Light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92738" y="-2728863"/>
            <a:ext cx="12862454" cy="12862454"/>
          </a:xfrm>
          <a:custGeom>
            <a:avLst/>
            <a:gdLst/>
            <a:ahLst/>
            <a:cxnLst/>
            <a:rect r="r" b="b" t="t" l="l"/>
            <a:pathLst>
              <a:path h="12862454" w="12862454">
                <a:moveTo>
                  <a:pt x="0" y="0"/>
                </a:moveTo>
                <a:lnTo>
                  <a:pt x="12862454" y="0"/>
                </a:lnTo>
                <a:lnTo>
                  <a:pt x="12862454" y="12862454"/>
                </a:lnTo>
                <a:lnTo>
                  <a:pt x="0" y="12862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9483" y="5353181"/>
            <a:ext cx="10964333" cy="216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2"/>
              </a:lnSpc>
            </a:pPr>
            <a:r>
              <a:rPr lang="en-US" sz="6222" spc="398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TELECOM USER</a:t>
            </a:r>
          </a:p>
          <a:p>
            <a:pPr algn="l">
              <a:lnSpc>
                <a:spcPts val="10121"/>
              </a:lnSpc>
            </a:pPr>
            <a:r>
              <a:rPr lang="en-US" sz="10121" spc="647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ANALYTICS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9233" y="8751628"/>
            <a:ext cx="10137972" cy="50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 spc="578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~BY SIDDHEYA LOHAR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9233" y="981075"/>
            <a:ext cx="3471335" cy="37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205" spc="425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9233" y="4322584"/>
            <a:ext cx="3471335" cy="73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7"/>
              </a:lnSpc>
            </a:pPr>
            <a:r>
              <a:rPr lang="en-US" sz="4205" spc="811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TELLCO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81100"/>
            <a:ext cx="6810951" cy="205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8000" spc="51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BUSINESS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15276" y="4527616"/>
            <a:ext cx="416033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BUISNESS 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15276" y="6110791"/>
            <a:ext cx="416033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ANALYSIS FOCUSES 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15276" y="5095875"/>
            <a:ext cx="13226866" cy="68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  <a:spcBef>
                <a:spcPct val="0"/>
              </a:spcBef>
            </a:pPr>
            <a:r>
              <a:rPr lang="en-US" sz="19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TellCo wants to understand its customers better before making strategic decisions regarding customer acquisition and business growth.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15276" y="6793416"/>
            <a:ext cx="13226866" cy="273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508" indent="-209254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TellCo wants to understand its customers better before making strategic decisions regarding customer acquisition and business growth.Understanding who the users are</a:t>
            </a:r>
          </a:p>
          <a:p>
            <a:pPr algn="l" marL="418508" indent="-209254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Measuring customer engagement</a:t>
            </a:r>
          </a:p>
          <a:p>
            <a:pPr algn="l" marL="418508" indent="-209254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Evaluating network experience</a:t>
            </a:r>
          </a:p>
          <a:p>
            <a:pPr algn="l" marL="418508" indent="-209254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Measuring customer satisfaction</a:t>
            </a:r>
          </a:p>
          <a:p>
            <a:pPr algn="l" marL="418508" indent="-209254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Identifying high-value customer segments</a:t>
            </a:r>
          </a:p>
          <a:p>
            <a:pPr algn="l" marL="418508" indent="-209254" lvl="1">
              <a:lnSpc>
                <a:spcPts val="2713"/>
              </a:lnSpc>
              <a:buFont typeface="Arial"/>
              <a:buChar char="•"/>
            </a:pPr>
            <a:r>
              <a:rPr lang="en-US" sz="19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Providing insights that can support future business decisions</a:t>
            </a:r>
          </a:p>
          <a:p>
            <a:pPr algn="l">
              <a:lnSpc>
                <a:spcPts val="271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23093"/>
            <a:ext cx="2513101" cy="132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6519"/>
            <a:ext cx="13953296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0"/>
              </a:lnSpc>
            </a:pPr>
            <a:r>
              <a:rPr lang="en-US" sz="12500" spc="-837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71575" y="2677942"/>
            <a:ext cx="593606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FOUR CORE 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1575" y="3757476"/>
            <a:ext cx="230295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64637" y="3757476"/>
            <a:ext cx="256112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ENGAGEMENT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65636" y="3757476"/>
            <a:ext cx="230442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EXPERIENCE</a:t>
            </a:r>
          </a:p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4121" y="3757476"/>
            <a:ext cx="265471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SATISFACTION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83224"/>
            <a:ext cx="2713018" cy="282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Number of users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Session behaviour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Handset manufacturers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Handset types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Traffic characteristics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964637" y="4591277"/>
            <a:ext cx="2816927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Session frequency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Session duration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Data consumption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Engagement score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Customer segments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365636" y="4583224"/>
            <a:ext cx="2951455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TCP retransmission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RTT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Throughput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Network experience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Experience-based customer segments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898240" y="4591277"/>
            <a:ext cx="3262259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Engagement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Experience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Satisfaction score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Customer segmentation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620" y="2744119"/>
            <a:ext cx="11235199" cy="4807335"/>
          </a:xfrm>
          <a:custGeom>
            <a:avLst/>
            <a:gdLst/>
            <a:ahLst/>
            <a:cxnLst/>
            <a:rect r="r" b="b" t="t" l="l"/>
            <a:pathLst>
              <a:path h="4807335" w="11235199">
                <a:moveTo>
                  <a:pt x="0" y="0"/>
                </a:moveTo>
                <a:lnTo>
                  <a:pt x="11235198" y="0"/>
                </a:lnTo>
                <a:lnTo>
                  <a:pt x="11235198" y="4807335"/>
                </a:lnTo>
                <a:lnTo>
                  <a:pt x="0" y="48073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98041" y="923925"/>
            <a:ext cx="10691919" cy="9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5"/>
              </a:lnSpc>
              <a:spcBef>
                <a:spcPct val="0"/>
              </a:spcBef>
            </a:pPr>
            <a:r>
              <a:rPr lang="en-US" sz="65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75967" y="1869440"/>
            <a:ext cx="8336065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0"/>
              </a:lnSpc>
              <a:spcBef>
                <a:spcPct val="0"/>
              </a:spcBef>
            </a:pPr>
            <a:r>
              <a:rPr lang="en-US" b="true" sz="2000">
                <a:solidFill>
                  <a:srgbClr val="1C1C1C"/>
                </a:solidFill>
                <a:latin typeface="Raleway Bold"/>
                <a:ea typeface="Raleway Bold"/>
                <a:cs typeface="Raleway Bold"/>
                <a:sym typeface="Raleway Bold"/>
              </a:rPr>
              <a:t>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58815" y="5661059"/>
            <a:ext cx="5317702" cy="189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 b="true">
                <a:solidFill>
                  <a:srgbClr val="D9D9D9"/>
                </a:solidFill>
                <a:latin typeface="Raleway Bold"/>
                <a:ea typeface="Raleway Bold"/>
                <a:cs typeface="Raleway Bold"/>
                <a:sym typeface="Raleway Bold"/>
              </a:rPr>
              <a:t>A SECOND DATASET WAS PROVIDED CONTAINING FIELD DESCRIPTIONS.</a:t>
            </a:r>
          </a:p>
          <a:p>
            <a:pPr algn="l">
              <a:lnSpc>
                <a:spcPts val="2140"/>
              </a:lnSpc>
            </a:pPr>
            <a:r>
              <a:rPr lang="en-US" sz="2000" b="true">
                <a:solidFill>
                  <a:srgbClr val="D9D9D9"/>
                </a:solidFill>
                <a:latin typeface="Raleway Bold"/>
                <a:ea typeface="Raleway Bold"/>
                <a:cs typeface="Raleway Bold"/>
                <a:sym typeface="Raleway Bold"/>
              </a:rPr>
              <a:t>It was used to understand the meaning of variables rather than being directly merged with the main dataset.</a:t>
            </a:r>
          </a:p>
          <a:p>
            <a:pPr algn="l">
              <a:lnSpc>
                <a:spcPts val="214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742823" y="5166836"/>
            <a:ext cx="4450352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DICTIONARY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88237" y="0"/>
            <a:ext cx="6199763" cy="10287000"/>
            <a:chOff x="0" y="0"/>
            <a:chExt cx="163285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28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32859">
                  <a:moveTo>
                    <a:pt x="0" y="0"/>
                  </a:moveTo>
                  <a:lnTo>
                    <a:pt x="1632859" y="0"/>
                  </a:lnTo>
                  <a:lnTo>
                    <a:pt x="16328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632859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915755" y="-275787"/>
            <a:ext cx="12500189" cy="6869762"/>
          </a:xfrm>
          <a:custGeom>
            <a:avLst/>
            <a:gdLst/>
            <a:ahLst/>
            <a:cxnLst/>
            <a:rect r="r" b="b" t="t" l="l"/>
            <a:pathLst>
              <a:path h="6869762" w="12500189">
                <a:moveTo>
                  <a:pt x="0" y="0"/>
                </a:moveTo>
                <a:lnTo>
                  <a:pt x="12500188" y="0"/>
                </a:lnTo>
                <a:lnTo>
                  <a:pt x="12500188" y="6869762"/>
                </a:lnTo>
                <a:lnTo>
                  <a:pt x="0" y="6869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5999" y="7241675"/>
            <a:ext cx="11858625" cy="227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0"/>
              </a:lnSpc>
            </a:pPr>
            <a:r>
              <a:rPr lang="en-US" sz="110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CLEANING &amp;</a:t>
            </a:r>
          </a:p>
          <a:p>
            <a:pPr algn="l">
              <a:lnSpc>
                <a:spcPts val="8360"/>
              </a:lnSpc>
            </a:pPr>
            <a:r>
              <a:rPr lang="en-US" sz="110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04624" y="1240064"/>
            <a:ext cx="3127793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PREPARATION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04624" y="7277870"/>
            <a:ext cx="3127793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FINAL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04624" y="1653675"/>
            <a:ext cx="4102554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Inspected dataset structure and data types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Removed duplicate records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Identified missing values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Investigated numerical distributions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Identified potential outliers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Reviewed categorical variables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Examined highly correlated/redundant variables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Prepared data for customer-level aggregation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704624" y="7691891"/>
            <a:ext cx="410255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148,506 rows × 55 columns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950" y="3657978"/>
            <a:ext cx="3669231" cy="4139625"/>
          </a:xfrm>
          <a:custGeom>
            <a:avLst/>
            <a:gdLst/>
            <a:ahLst/>
            <a:cxnLst/>
            <a:rect r="r" b="b" t="t" l="l"/>
            <a:pathLst>
              <a:path h="4139625" w="3669231">
                <a:moveTo>
                  <a:pt x="0" y="0"/>
                </a:moveTo>
                <a:lnTo>
                  <a:pt x="3669231" y="0"/>
                </a:lnTo>
                <a:lnTo>
                  <a:pt x="3669231" y="4139625"/>
                </a:lnTo>
                <a:lnTo>
                  <a:pt x="0" y="4139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2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20075" y="3657978"/>
            <a:ext cx="7847851" cy="4164103"/>
          </a:xfrm>
          <a:custGeom>
            <a:avLst/>
            <a:gdLst/>
            <a:ahLst/>
            <a:cxnLst/>
            <a:rect r="r" b="b" t="t" l="l"/>
            <a:pathLst>
              <a:path h="4164103" w="7847851">
                <a:moveTo>
                  <a:pt x="0" y="0"/>
                </a:moveTo>
                <a:lnTo>
                  <a:pt x="7847850" y="0"/>
                </a:lnTo>
                <a:lnTo>
                  <a:pt x="7847850" y="4164104"/>
                </a:lnTo>
                <a:lnTo>
                  <a:pt x="0" y="41641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191" r="0" b="-619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62050"/>
            <a:ext cx="13579854" cy="1534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70"/>
              </a:lnSpc>
              <a:spcBef>
                <a:spcPct val="0"/>
              </a:spcBef>
            </a:pPr>
            <a:r>
              <a:rPr lang="en-US" sz="11000">
                <a:solidFill>
                  <a:srgbClr val="F2EBE3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MISSING VALUE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3950" y="2799715"/>
            <a:ext cx="994232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MISSING VALUES WERE EXAMINED ACROSS ALL NUMERICAL AND CATEGORICAL VARIABLES.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950" y="8127546"/>
            <a:ext cx="3163863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F2EBE3"/>
                </a:solidFill>
                <a:latin typeface="Archivo Black"/>
                <a:ea typeface="Archivo Black"/>
                <a:cs typeface="Archivo Black"/>
                <a:sym typeface="Archivo Black"/>
              </a:rPr>
              <a:t>34 COLUMNS: LESS THAN 1% MISSING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72332" y="8127546"/>
            <a:ext cx="3971668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F2EBE3"/>
                </a:solidFill>
                <a:latin typeface="Archivo Black"/>
                <a:ea typeface="Archivo Black"/>
                <a:cs typeface="Archivo Black"/>
                <a:sym typeface="Archivo Black"/>
              </a:rPr>
              <a:t>2 COLUMNS: 1–20% MISSING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61913" y="8127546"/>
            <a:ext cx="493097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F2EBE3"/>
                </a:solidFill>
                <a:latin typeface="Archivo Black"/>
                <a:ea typeface="Archivo Black"/>
                <a:cs typeface="Archivo Black"/>
                <a:sym typeface="Archivo Black"/>
              </a:rPr>
              <a:t>10 COLUMNS: MORE THAN 50% MISSING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1174" y="4801561"/>
            <a:ext cx="7600215" cy="3699788"/>
          </a:xfrm>
          <a:custGeom>
            <a:avLst/>
            <a:gdLst/>
            <a:ahLst/>
            <a:cxnLst/>
            <a:rect r="r" b="b" t="t" l="l"/>
            <a:pathLst>
              <a:path h="3699788" w="7600215">
                <a:moveTo>
                  <a:pt x="0" y="0"/>
                </a:moveTo>
                <a:lnTo>
                  <a:pt x="7600216" y="0"/>
                </a:lnTo>
                <a:lnTo>
                  <a:pt x="7600216" y="3699788"/>
                </a:lnTo>
                <a:lnTo>
                  <a:pt x="0" y="369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41174" y="736011"/>
            <a:ext cx="7600215" cy="3699788"/>
          </a:xfrm>
          <a:custGeom>
            <a:avLst/>
            <a:gdLst/>
            <a:ahLst/>
            <a:cxnLst/>
            <a:rect r="r" b="b" t="t" l="l"/>
            <a:pathLst>
              <a:path h="3699788" w="7600215">
                <a:moveTo>
                  <a:pt x="0" y="0"/>
                </a:moveTo>
                <a:lnTo>
                  <a:pt x="7600216" y="0"/>
                </a:lnTo>
                <a:lnTo>
                  <a:pt x="7600216" y="3699788"/>
                </a:lnTo>
                <a:lnTo>
                  <a:pt x="0" y="36997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11" r="0" b="-141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3902" y="6048285"/>
            <a:ext cx="9097272" cy="230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5"/>
              </a:lnSpc>
            </a:pPr>
            <a:r>
              <a:rPr lang="en-US" sz="7177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CORRELATION &amp; REDUNDANCY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2626"/>
            <a:ext cx="775261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IMPORTANT CORRELATION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81364"/>
            <a:ext cx="4275526" cy="953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0945" indent="-150473" lvl="1">
              <a:lnSpc>
                <a:spcPts val="1491"/>
              </a:lnSpc>
              <a:buFont typeface="Arial"/>
              <a:buChar char="•"/>
            </a:pPr>
            <a:r>
              <a:rPr lang="en-US" sz="139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DUR. VS DUR.1 → 1.000</a:t>
            </a:r>
          </a:p>
          <a:p>
            <a:pPr algn="l" marL="300945" indent="-150473" lvl="1">
              <a:lnSpc>
                <a:spcPts val="1491"/>
              </a:lnSpc>
              <a:buFont typeface="Arial"/>
              <a:buChar char="•"/>
            </a:pPr>
            <a:r>
              <a:rPr lang="en-US" sz="139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DL vs Gaming DL → 0.999</a:t>
            </a:r>
          </a:p>
          <a:p>
            <a:pPr algn="l" marL="300945" indent="-150473" lvl="1">
              <a:lnSpc>
                <a:spcPts val="1491"/>
              </a:lnSpc>
              <a:buFont typeface="Arial"/>
              <a:buChar char="•"/>
            </a:pPr>
            <a:r>
              <a:rPr lang="en-US" sz="139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Activity Duration UL vs DL → 0.905</a:t>
            </a:r>
          </a:p>
          <a:p>
            <a:pPr algn="l" marL="300945" indent="-150473" lvl="1">
              <a:lnSpc>
                <a:spcPts val="1491"/>
              </a:lnSpc>
              <a:buFont typeface="Arial"/>
              <a:buChar char="•"/>
            </a:pPr>
            <a:r>
              <a:rPr lang="en-US" sz="139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Low-volume UL/DL seconds → 0.947</a:t>
            </a:r>
          </a:p>
          <a:p>
            <a:pPr algn="l">
              <a:lnSpc>
                <a:spcPts val="14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7784" y="4615601"/>
            <a:ext cx="6512432" cy="2999851"/>
          </a:xfrm>
          <a:custGeom>
            <a:avLst/>
            <a:gdLst/>
            <a:ahLst/>
            <a:cxnLst/>
            <a:rect r="r" b="b" t="t" l="l"/>
            <a:pathLst>
              <a:path h="2999851" w="6512432">
                <a:moveTo>
                  <a:pt x="0" y="0"/>
                </a:moveTo>
                <a:lnTo>
                  <a:pt x="6512432" y="0"/>
                </a:lnTo>
                <a:lnTo>
                  <a:pt x="6512432" y="2999851"/>
                </a:lnTo>
                <a:lnTo>
                  <a:pt x="0" y="2999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9700"/>
            <a:ext cx="16230600" cy="133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2"/>
              </a:lnSpc>
            </a:pPr>
            <a:r>
              <a:rPr lang="en-US" sz="113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OUTLIER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87784" y="2952751"/>
            <a:ext cx="6512432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OUTLIER DETECTION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782778"/>
            <a:ext cx="4102554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36,744 observations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24.79%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960285" y="6958842"/>
            <a:ext cx="4102554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31,691 observations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21.39%</a:t>
            </a: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63097" y="4835005"/>
            <a:ext cx="3833759" cy="15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2"/>
              </a:lnSpc>
            </a:pPr>
            <a:r>
              <a:rPr lang="en-US" sz="4601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DL TP &gt; 1 Mbps (%)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71053" y="5093451"/>
            <a:ext cx="3833759" cy="110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2"/>
              </a:lnSpc>
            </a:pPr>
            <a:r>
              <a:rPr lang="en-US" sz="3201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10 Kbps &lt; UL TP &lt; 50 Kbps (%)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88237" y="0"/>
            <a:ext cx="6199763" cy="10287000"/>
            <a:chOff x="0" y="0"/>
            <a:chExt cx="163285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28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32859">
                  <a:moveTo>
                    <a:pt x="0" y="0"/>
                  </a:moveTo>
                  <a:lnTo>
                    <a:pt x="1632859" y="0"/>
                  </a:lnTo>
                  <a:lnTo>
                    <a:pt x="16328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632859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44046" y="5999987"/>
            <a:ext cx="4488146" cy="4008762"/>
          </a:xfrm>
          <a:custGeom>
            <a:avLst/>
            <a:gdLst/>
            <a:ahLst/>
            <a:cxnLst/>
            <a:rect r="r" b="b" t="t" l="l"/>
            <a:pathLst>
              <a:path h="4008762" w="4488146">
                <a:moveTo>
                  <a:pt x="0" y="0"/>
                </a:moveTo>
                <a:lnTo>
                  <a:pt x="4488146" y="0"/>
                </a:lnTo>
                <a:lnTo>
                  <a:pt x="4488146" y="4008763"/>
                </a:lnTo>
                <a:lnTo>
                  <a:pt x="0" y="4008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0269" y="1304398"/>
            <a:ext cx="11010032" cy="3968732"/>
          </a:xfrm>
          <a:custGeom>
            <a:avLst/>
            <a:gdLst/>
            <a:ahLst/>
            <a:cxnLst/>
            <a:rect r="r" b="b" t="t" l="l"/>
            <a:pathLst>
              <a:path h="3968732" w="11010032">
                <a:moveTo>
                  <a:pt x="0" y="0"/>
                </a:moveTo>
                <a:lnTo>
                  <a:pt x="11010032" y="0"/>
                </a:lnTo>
                <a:lnTo>
                  <a:pt x="11010032" y="3968733"/>
                </a:lnTo>
                <a:lnTo>
                  <a:pt x="0" y="3968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07598" y="6400037"/>
            <a:ext cx="7882206" cy="304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100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 OVERVIEW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23674" y="1238341"/>
            <a:ext cx="3127793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CUSTOMER &amp; USAGE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23674" y="4735286"/>
            <a:ext cx="3127793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FINDING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23674" y="1985736"/>
            <a:ext cx="4102554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Number of sessions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Session duration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Download traffic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Upload traffic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Handset manufacturer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Handset type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704624" y="5215981"/>
            <a:ext cx="410255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106,856 unique customers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499210" cy="4331154"/>
            <a:chOff x="0" y="0"/>
            <a:chExt cx="1448352" cy="11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8352" cy="1140715"/>
            </a:xfrm>
            <a:custGeom>
              <a:avLst/>
              <a:gdLst/>
              <a:ahLst/>
              <a:cxnLst/>
              <a:rect r="r" b="b" t="t" l="l"/>
              <a:pathLst>
                <a:path h="1140715" w="1448352">
                  <a:moveTo>
                    <a:pt x="0" y="0"/>
                  </a:moveTo>
                  <a:lnTo>
                    <a:pt x="1448352" y="0"/>
                  </a:lnTo>
                  <a:lnTo>
                    <a:pt x="1448352" y="1140715"/>
                  </a:lnTo>
                  <a:lnTo>
                    <a:pt x="0" y="1140715"/>
                  </a:lnTo>
                  <a:close/>
                </a:path>
              </a:pathLst>
            </a:custGeom>
            <a:solidFill>
              <a:srgbClr val="FC67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448352" cy="1121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27910" y="1028700"/>
            <a:ext cx="5392511" cy="4331154"/>
            <a:chOff x="0" y="0"/>
            <a:chExt cx="1420250" cy="1140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0250" cy="1140715"/>
            </a:xfrm>
            <a:custGeom>
              <a:avLst/>
              <a:gdLst/>
              <a:ahLst/>
              <a:cxnLst/>
              <a:rect r="r" b="b" t="t" l="l"/>
              <a:pathLst>
                <a:path h="1140715" w="1420250">
                  <a:moveTo>
                    <a:pt x="0" y="0"/>
                  </a:moveTo>
                  <a:lnTo>
                    <a:pt x="1420250" y="0"/>
                  </a:lnTo>
                  <a:lnTo>
                    <a:pt x="1420250" y="1140715"/>
                  </a:lnTo>
                  <a:lnTo>
                    <a:pt x="0" y="1140715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420250" cy="1121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20421" y="1028700"/>
            <a:ext cx="5338879" cy="4331154"/>
            <a:chOff x="0" y="0"/>
            <a:chExt cx="1406125" cy="11407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6125" cy="1140715"/>
            </a:xfrm>
            <a:custGeom>
              <a:avLst/>
              <a:gdLst/>
              <a:ahLst/>
              <a:cxnLst/>
              <a:rect r="r" b="b" t="t" l="l"/>
              <a:pathLst>
                <a:path h="1140715" w="1406125">
                  <a:moveTo>
                    <a:pt x="0" y="0"/>
                  </a:moveTo>
                  <a:lnTo>
                    <a:pt x="1406125" y="0"/>
                  </a:lnTo>
                  <a:lnTo>
                    <a:pt x="1406125" y="1140715"/>
                  </a:lnTo>
                  <a:lnTo>
                    <a:pt x="0" y="1140715"/>
                  </a:lnTo>
                  <a:close/>
                </a:path>
              </a:pathLst>
            </a:custGeom>
            <a:solidFill>
              <a:srgbClr val="E3DCD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406125" cy="1121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23925" y="6903357"/>
            <a:ext cx="14144625" cy="273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25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CUSTOMER</a:t>
            </a:r>
          </a:p>
          <a:p>
            <a:pPr algn="l">
              <a:lnSpc>
                <a:spcPts val="10125"/>
              </a:lnSpc>
            </a:pPr>
            <a:r>
              <a:rPr lang="en-US" sz="125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ENGAGEMENT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33201" y="3213327"/>
            <a:ext cx="329020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SESSION FREQUENCY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25321" y="3213327"/>
            <a:ext cx="329020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VOLUME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79062" y="3213327"/>
            <a:ext cx="329020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SESSION DURATION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33201" y="3618397"/>
            <a:ext cx="329020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How often a customer uses the service.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53896" y="3618397"/>
            <a:ext cx="329020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How much data the customer consumes.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65264" y="3618397"/>
            <a:ext cx="2957473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C6736"/>
                </a:solidFill>
                <a:latin typeface="Raleway"/>
                <a:ea typeface="Raleway"/>
                <a:cs typeface="Raleway"/>
                <a:sym typeface="Raleway"/>
              </a:rPr>
              <a:t>How long the customer remains active.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6338" y="3732096"/>
            <a:ext cx="16102962" cy="5526204"/>
          </a:xfrm>
          <a:custGeom>
            <a:avLst/>
            <a:gdLst/>
            <a:ahLst/>
            <a:cxnLst/>
            <a:rect r="r" b="b" t="t" l="l"/>
            <a:pathLst>
              <a:path h="5526204" w="16102962">
                <a:moveTo>
                  <a:pt x="0" y="0"/>
                </a:moveTo>
                <a:lnTo>
                  <a:pt x="16102962" y="0"/>
                </a:lnTo>
                <a:lnTo>
                  <a:pt x="16102962" y="5526204"/>
                </a:lnTo>
                <a:lnTo>
                  <a:pt x="0" y="552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7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66914" y="6172200"/>
            <a:ext cx="4392386" cy="3086100"/>
            <a:chOff x="0" y="0"/>
            <a:chExt cx="115684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6842" cy="812800"/>
            </a:xfrm>
            <a:custGeom>
              <a:avLst/>
              <a:gdLst/>
              <a:ahLst/>
              <a:cxnLst/>
              <a:rect r="r" b="b" t="t" l="l"/>
              <a:pathLst>
                <a:path h="812800" w="1156842">
                  <a:moveTo>
                    <a:pt x="0" y="0"/>
                  </a:moveTo>
                  <a:lnTo>
                    <a:pt x="1156842" y="0"/>
                  </a:lnTo>
                  <a:lnTo>
                    <a:pt x="11568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C67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156842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8687" y="839957"/>
            <a:ext cx="14438667" cy="197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5"/>
              </a:lnSpc>
              <a:spcBef>
                <a:spcPct val="0"/>
              </a:spcBef>
            </a:pPr>
            <a:r>
              <a:rPr lang="en-US" sz="7201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ENGAGEMENT SCORE &amp; TOP CUSTOMERS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35275"/>
            <a:ext cx="8834756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ENGAGEMENT RANKING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52664" y="6593432"/>
            <a:ext cx="3820886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96839"/>
            <a:ext cx="4124469" cy="5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  <a:spcBef>
                <a:spcPct val="0"/>
              </a:spcBef>
            </a:pPr>
            <a:r>
              <a:rPr lang="en-US" sz="1295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HIGHER ENGAGEMENT SCORES INDICATE CUSTOMERS WITH STRONGER COMBINED USAGE ACROSS: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2664" y="7658100"/>
            <a:ext cx="4067919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Session activity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Duration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Data consumption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53375" y="3941426"/>
            <a:ext cx="7187070" cy="9172404"/>
          </a:xfrm>
          <a:custGeom>
            <a:avLst/>
            <a:gdLst/>
            <a:ahLst/>
            <a:cxnLst/>
            <a:rect r="r" b="b" t="t" l="l"/>
            <a:pathLst>
              <a:path h="9172404" w="7187070">
                <a:moveTo>
                  <a:pt x="0" y="0"/>
                </a:moveTo>
                <a:lnTo>
                  <a:pt x="7187070" y="0"/>
                </a:lnTo>
                <a:lnTo>
                  <a:pt x="7187070" y="9172403"/>
                </a:lnTo>
                <a:lnTo>
                  <a:pt x="0" y="9172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76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35550"/>
            <a:ext cx="10324675" cy="1924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4"/>
              </a:lnSpc>
            </a:pPr>
            <a:r>
              <a:rPr lang="en-US" sz="870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CUSTOMER SEGMENTATION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148754"/>
            <a:ext cx="775261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K-MEANS CLUSTERING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633146"/>
            <a:ext cx="7752616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K-MEANS CLUSTERING WAS USED TO GROUP CUSTOMERS BASED ON THEIR ENGAGEMENT BEHAVIOUR.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50412"/>
            <a:ext cx="7752616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SESSION FREQUENCY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Session duration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Data usage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Engagement score / normalized engagement features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60476"/>
            <a:ext cx="3680838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FEATURES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473654" cy="1534886"/>
            <a:chOff x="0" y="0"/>
            <a:chExt cx="388123" cy="404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8123" cy="404250"/>
            </a:xfrm>
            <a:custGeom>
              <a:avLst/>
              <a:gdLst/>
              <a:ahLst/>
              <a:cxnLst/>
              <a:rect r="r" b="b" t="t" l="l"/>
              <a:pathLst>
                <a:path h="404250" w="388123">
                  <a:moveTo>
                    <a:pt x="131339" y="0"/>
                  </a:moveTo>
                  <a:lnTo>
                    <a:pt x="256784" y="0"/>
                  </a:lnTo>
                  <a:cubicBezTo>
                    <a:pt x="291617" y="0"/>
                    <a:pt x="325024" y="13837"/>
                    <a:pt x="349654" y="38468"/>
                  </a:cubicBezTo>
                  <a:cubicBezTo>
                    <a:pt x="374285" y="63099"/>
                    <a:pt x="388123" y="96506"/>
                    <a:pt x="388123" y="131339"/>
                  </a:cubicBezTo>
                  <a:lnTo>
                    <a:pt x="388123" y="272911"/>
                  </a:lnTo>
                  <a:cubicBezTo>
                    <a:pt x="388123" y="307744"/>
                    <a:pt x="374285" y="341151"/>
                    <a:pt x="349654" y="365781"/>
                  </a:cubicBezTo>
                  <a:cubicBezTo>
                    <a:pt x="325024" y="390412"/>
                    <a:pt x="291617" y="404250"/>
                    <a:pt x="256784" y="404250"/>
                  </a:cubicBezTo>
                  <a:lnTo>
                    <a:pt x="131339" y="404250"/>
                  </a:lnTo>
                  <a:cubicBezTo>
                    <a:pt x="96506" y="404250"/>
                    <a:pt x="63099" y="390412"/>
                    <a:pt x="38468" y="365781"/>
                  </a:cubicBezTo>
                  <a:cubicBezTo>
                    <a:pt x="13837" y="341151"/>
                    <a:pt x="0" y="307744"/>
                    <a:pt x="0" y="272911"/>
                  </a:cubicBezTo>
                  <a:lnTo>
                    <a:pt x="0" y="131339"/>
                  </a:lnTo>
                  <a:cubicBezTo>
                    <a:pt x="0" y="96506"/>
                    <a:pt x="13837" y="63099"/>
                    <a:pt x="38468" y="38468"/>
                  </a:cubicBezTo>
                  <a:cubicBezTo>
                    <a:pt x="63099" y="13837"/>
                    <a:pt x="96506" y="0"/>
                    <a:pt x="131339" y="0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388123" cy="38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03105" y="1028700"/>
            <a:ext cx="1473654" cy="1534886"/>
            <a:chOff x="0" y="0"/>
            <a:chExt cx="388123" cy="404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8123" cy="404250"/>
            </a:xfrm>
            <a:custGeom>
              <a:avLst/>
              <a:gdLst/>
              <a:ahLst/>
              <a:cxnLst/>
              <a:rect r="r" b="b" t="t" l="l"/>
              <a:pathLst>
                <a:path h="404250" w="388123">
                  <a:moveTo>
                    <a:pt x="131339" y="0"/>
                  </a:moveTo>
                  <a:lnTo>
                    <a:pt x="256784" y="0"/>
                  </a:lnTo>
                  <a:cubicBezTo>
                    <a:pt x="291617" y="0"/>
                    <a:pt x="325024" y="13837"/>
                    <a:pt x="349654" y="38468"/>
                  </a:cubicBezTo>
                  <a:cubicBezTo>
                    <a:pt x="374285" y="63099"/>
                    <a:pt x="388123" y="96506"/>
                    <a:pt x="388123" y="131339"/>
                  </a:cubicBezTo>
                  <a:lnTo>
                    <a:pt x="388123" y="272911"/>
                  </a:lnTo>
                  <a:cubicBezTo>
                    <a:pt x="388123" y="307744"/>
                    <a:pt x="374285" y="341151"/>
                    <a:pt x="349654" y="365781"/>
                  </a:cubicBezTo>
                  <a:cubicBezTo>
                    <a:pt x="325024" y="390412"/>
                    <a:pt x="291617" y="404250"/>
                    <a:pt x="256784" y="404250"/>
                  </a:cubicBezTo>
                  <a:lnTo>
                    <a:pt x="131339" y="404250"/>
                  </a:lnTo>
                  <a:cubicBezTo>
                    <a:pt x="96506" y="404250"/>
                    <a:pt x="63099" y="390412"/>
                    <a:pt x="38468" y="365781"/>
                  </a:cubicBezTo>
                  <a:cubicBezTo>
                    <a:pt x="13837" y="341151"/>
                    <a:pt x="0" y="307744"/>
                    <a:pt x="0" y="272911"/>
                  </a:cubicBezTo>
                  <a:lnTo>
                    <a:pt x="0" y="131339"/>
                  </a:lnTo>
                  <a:cubicBezTo>
                    <a:pt x="0" y="96506"/>
                    <a:pt x="13837" y="63099"/>
                    <a:pt x="38468" y="38468"/>
                  </a:cubicBezTo>
                  <a:cubicBezTo>
                    <a:pt x="63099" y="13837"/>
                    <a:pt x="96506" y="0"/>
                    <a:pt x="131339" y="0"/>
                  </a:cubicBezTo>
                  <a:close/>
                </a:path>
              </a:pathLst>
            </a:custGeom>
            <a:solidFill>
              <a:srgbClr val="FFF7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388123" cy="38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10835" y="1028700"/>
            <a:ext cx="1473654" cy="1534886"/>
            <a:chOff x="0" y="0"/>
            <a:chExt cx="388123" cy="404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8123" cy="404250"/>
            </a:xfrm>
            <a:custGeom>
              <a:avLst/>
              <a:gdLst/>
              <a:ahLst/>
              <a:cxnLst/>
              <a:rect r="r" b="b" t="t" l="l"/>
              <a:pathLst>
                <a:path h="404250" w="388123">
                  <a:moveTo>
                    <a:pt x="131339" y="0"/>
                  </a:moveTo>
                  <a:lnTo>
                    <a:pt x="256784" y="0"/>
                  </a:lnTo>
                  <a:cubicBezTo>
                    <a:pt x="291617" y="0"/>
                    <a:pt x="325024" y="13837"/>
                    <a:pt x="349654" y="38468"/>
                  </a:cubicBezTo>
                  <a:cubicBezTo>
                    <a:pt x="374285" y="63099"/>
                    <a:pt x="388123" y="96506"/>
                    <a:pt x="388123" y="131339"/>
                  </a:cubicBezTo>
                  <a:lnTo>
                    <a:pt x="388123" y="272911"/>
                  </a:lnTo>
                  <a:cubicBezTo>
                    <a:pt x="388123" y="307744"/>
                    <a:pt x="374285" y="341151"/>
                    <a:pt x="349654" y="365781"/>
                  </a:cubicBezTo>
                  <a:cubicBezTo>
                    <a:pt x="325024" y="390412"/>
                    <a:pt x="291617" y="404250"/>
                    <a:pt x="256784" y="404250"/>
                  </a:cubicBezTo>
                  <a:lnTo>
                    <a:pt x="131339" y="404250"/>
                  </a:lnTo>
                  <a:cubicBezTo>
                    <a:pt x="96506" y="404250"/>
                    <a:pt x="63099" y="390412"/>
                    <a:pt x="38468" y="365781"/>
                  </a:cubicBezTo>
                  <a:cubicBezTo>
                    <a:pt x="13837" y="341151"/>
                    <a:pt x="0" y="307744"/>
                    <a:pt x="0" y="272911"/>
                  </a:cubicBezTo>
                  <a:lnTo>
                    <a:pt x="0" y="131339"/>
                  </a:lnTo>
                  <a:cubicBezTo>
                    <a:pt x="0" y="96506"/>
                    <a:pt x="13837" y="63099"/>
                    <a:pt x="38468" y="38468"/>
                  </a:cubicBezTo>
                  <a:cubicBezTo>
                    <a:pt x="63099" y="13837"/>
                    <a:pt x="96506" y="0"/>
                    <a:pt x="131339" y="0"/>
                  </a:cubicBezTo>
                  <a:close/>
                </a:path>
              </a:pathLst>
            </a:custGeom>
            <a:solidFill>
              <a:srgbClr val="F2EBE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88123" cy="38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394213" y="5048613"/>
            <a:ext cx="6270485" cy="4845836"/>
          </a:xfrm>
          <a:custGeom>
            <a:avLst/>
            <a:gdLst/>
            <a:ahLst/>
            <a:cxnLst/>
            <a:rect r="r" b="b" t="t" l="l"/>
            <a:pathLst>
              <a:path h="4845836" w="6270485">
                <a:moveTo>
                  <a:pt x="0" y="0"/>
                </a:moveTo>
                <a:lnTo>
                  <a:pt x="6270485" y="0"/>
                </a:lnTo>
                <a:lnTo>
                  <a:pt x="6270485" y="4845836"/>
                </a:lnTo>
                <a:lnTo>
                  <a:pt x="0" y="4845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19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3012" y="6280617"/>
            <a:ext cx="8826455" cy="297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4"/>
              </a:lnSpc>
            </a:pPr>
            <a:r>
              <a:rPr lang="en-US" sz="92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NETWORK EXPERIENCE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3012" y="2914877"/>
            <a:ext cx="307811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TCP RETRANSMISSION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08367" y="2914877"/>
            <a:ext cx="307811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RTT-ROUND </a:t>
            </a:r>
          </a:p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TRIP TIME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16097" y="3198087"/>
            <a:ext cx="3078116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THROUGHPUT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0637" y="3632563"/>
            <a:ext cx="3083855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Higher retransmission can indicate network inefficiency or packet delivery problems.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08367" y="3632563"/>
            <a:ext cx="3078116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Measures communication latency between the user and network.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10835" y="3632563"/>
            <a:ext cx="3078116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Measures the effective data transfer rate experienced by users.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9366" y="1244963"/>
            <a:ext cx="992322" cy="119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4"/>
              </a:lnSpc>
              <a:spcBef>
                <a:spcPct val="0"/>
              </a:spcBef>
            </a:pPr>
            <a:r>
              <a:rPr lang="en-US" sz="8499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43771" y="1244963"/>
            <a:ext cx="992322" cy="119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4"/>
              </a:lnSpc>
              <a:spcBef>
                <a:spcPct val="0"/>
              </a:spcBef>
            </a:pPr>
            <a:r>
              <a:rPr lang="en-US" sz="8499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51500" y="1244963"/>
            <a:ext cx="992322" cy="119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4"/>
              </a:lnSpc>
              <a:spcBef>
                <a:spcPct val="0"/>
              </a:spcBef>
            </a:pPr>
            <a:r>
              <a:rPr lang="en-US" sz="8499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6994" y="4951517"/>
            <a:ext cx="8748292" cy="2739364"/>
          </a:xfrm>
          <a:custGeom>
            <a:avLst/>
            <a:gdLst/>
            <a:ahLst/>
            <a:cxnLst/>
            <a:rect r="r" b="b" t="t" l="l"/>
            <a:pathLst>
              <a:path h="2739364" w="8748292">
                <a:moveTo>
                  <a:pt x="0" y="0"/>
                </a:moveTo>
                <a:lnTo>
                  <a:pt x="8748292" y="0"/>
                </a:lnTo>
                <a:lnTo>
                  <a:pt x="8748292" y="2739364"/>
                </a:lnTo>
                <a:lnTo>
                  <a:pt x="0" y="2739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706" y="4359276"/>
            <a:ext cx="4044015" cy="3607162"/>
          </a:xfrm>
          <a:custGeom>
            <a:avLst/>
            <a:gdLst/>
            <a:ahLst/>
            <a:cxnLst/>
            <a:rect r="r" b="b" t="t" l="l"/>
            <a:pathLst>
              <a:path h="3607162" w="4044015">
                <a:moveTo>
                  <a:pt x="0" y="0"/>
                </a:moveTo>
                <a:lnTo>
                  <a:pt x="4044015" y="0"/>
                </a:lnTo>
                <a:lnTo>
                  <a:pt x="4044015" y="3607162"/>
                </a:lnTo>
                <a:lnTo>
                  <a:pt x="0" y="3607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96117" y="808589"/>
            <a:ext cx="10025178" cy="287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10"/>
              </a:lnSpc>
            </a:pPr>
            <a:r>
              <a:rPr lang="en-US" sz="860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EXPERIENCE SCORING &amp; SEGMENTATION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8424" y="3623312"/>
            <a:ext cx="7854670" cy="73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FOR METRICS SUCH AS TCP RETRANSMISSION AND RTT, LOWER VALUES GENERALLY REPRESENT BETTER NETWORK CONDITIONS, WHILE HIGHER THROUGHPUT REPRESENTS BETTER PERFORMANCE.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86166"/>
            <a:ext cx="4867106" cy="95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SELECTED EXPERIENCE METRICS WERE AGGREGATED AT CUSTOMER LEVEL.</a:t>
            </a:r>
          </a:p>
          <a:p>
            <a:pPr algn="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metrics were normalized so that they could be combined into a common score.</a:t>
            </a:r>
          </a:p>
          <a:p>
            <a:pPr algn="r">
              <a:lnSpc>
                <a:spcPts val="15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496952" y="8686166"/>
            <a:ext cx="4867106" cy="381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CUSTOMERS CAN THEN BE GROUPED BASED ON NETWORK EXPERIENCE USING CLUSTERING.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08661" y="8686166"/>
            <a:ext cx="4867106" cy="114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SEGMENTATION HELPS IDENTIFY:</a:t>
            </a:r>
          </a:p>
          <a:p>
            <a:pPr algn="r" marL="237497" indent="-118749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Customers experiencing better network performance</a:t>
            </a:r>
          </a:p>
          <a:p>
            <a:pPr algn="r" marL="237497" indent="-118749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Customers with moderate experience</a:t>
            </a:r>
          </a:p>
          <a:p>
            <a:pPr algn="r" marL="237497" indent="-118749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Customers potentially experiencing poorer network conditions</a:t>
            </a:r>
          </a:p>
          <a:p>
            <a:pPr algn="r">
              <a:lnSpc>
                <a:spcPts val="15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855738" y="8283122"/>
            <a:ext cx="3915402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EXPERIENCE SCORE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48261" y="8283122"/>
            <a:ext cx="4315797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EXPERIENCE SEGMENTATION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07473" y="8283122"/>
            <a:ext cx="2568295" cy="29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INTERPRETATION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898696"/>
            <a:ext cx="18288000" cy="4388304"/>
            <a:chOff x="0" y="0"/>
            <a:chExt cx="4816593" cy="11557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155767"/>
            </a:xfrm>
            <a:custGeom>
              <a:avLst/>
              <a:gdLst/>
              <a:ahLst/>
              <a:cxnLst/>
              <a:rect r="r" b="b" t="t" l="l"/>
              <a:pathLst>
                <a:path h="11557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55767"/>
                  </a:lnTo>
                  <a:lnTo>
                    <a:pt x="0" y="1155767"/>
                  </a:lnTo>
                  <a:close/>
                </a:path>
              </a:pathLst>
            </a:custGeom>
            <a:solidFill>
              <a:srgbClr val="FC67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16593" cy="1136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27994" y="5315971"/>
            <a:ext cx="1165452" cy="1165452"/>
          </a:xfrm>
          <a:custGeom>
            <a:avLst/>
            <a:gdLst/>
            <a:ahLst/>
            <a:cxnLst/>
            <a:rect r="r" b="b" t="t" l="l"/>
            <a:pathLst>
              <a:path h="1165452" w="1165452">
                <a:moveTo>
                  <a:pt x="0" y="0"/>
                </a:moveTo>
                <a:lnTo>
                  <a:pt x="1165452" y="0"/>
                </a:lnTo>
                <a:lnTo>
                  <a:pt x="1165452" y="1165451"/>
                </a:lnTo>
                <a:lnTo>
                  <a:pt x="0" y="116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27994" y="9704274"/>
            <a:ext cx="1165452" cy="1165452"/>
          </a:xfrm>
          <a:custGeom>
            <a:avLst/>
            <a:gdLst/>
            <a:ahLst/>
            <a:cxnLst/>
            <a:rect r="r" b="b" t="t" l="l"/>
            <a:pathLst>
              <a:path h="1165452" w="1165452">
                <a:moveTo>
                  <a:pt x="0" y="0"/>
                </a:moveTo>
                <a:lnTo>
                  <a:pt x="1165452" y="0"/>
                </a:lnTo>
                <a:lnTo>
                  <a:pt x="1165452" y="1165452"/>
                </a:lnTo>
                <a:lnTo>
                  <a:pt x="0" y="1165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26328" y="1003077"/>
            <a:ext cx="8768783" cy="2249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4"/>
              </a:lnSpc>
              <a:spcBef>
                <a:spcPct val="0"/>
              </a:spcBef>
            </a:pPr>
            <a:r>
              <a:rPr lang="en-US" sz="82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CUSTOMER SATISFACTION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39376" y="3672110"/>
            <a:ext cx="318061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4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SATISFACTION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860624"/>
            <a:ext cx="3180616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ENGAGEMENT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90880" y="6860624"/>
            <a:ext cx="3568420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74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39376" y="4568371"/>
            <a:ext cx="3342687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CUSTOMER SATISFACTION IS DERIVED FROM THE RELATIONSHIP BETWEEN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532572"/>
            <a:ext cx="3927185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HIGHLY ENGAGED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Experiencing good network performance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766891" y="7532572"/>
            <a:ext cx="4492409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POTENTIALLY VALUABLE FOR RETENTION</a:t>
            </a:r>
          </a:p>
          <a:p>
            <a:pPr algn="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Showing weaker experience despite high usage</a:t>
            </a:r>
          </a:p>
          <a:p>
            <a:pPr algn="r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88237" y="0"/>
            <a:ext cx="6199763" cy="10287000"/>
            <a:chOff x="0" y="0"/>
            <a:chExt cx="163285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28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32859">
                  <a:moveTo>
                    <a:pt x="0" y="0"/>
                  </a:moveTo>
                  <a:lnTo>
                    <a:pt x="1632859" y="0"/>
                  </a:lnTo>
                  <a:lnTo>
                    <a:pt x="16328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632859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58765"/>
            <a:ext cx="11858625" cy="2790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2"/>
              </a:lnSpc>
            </a:pPr>
            <a:r>
              <a:rPr lang="en-US" sz="92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MACHINE LEARNING / REGRESSION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241468"/>
            <a:ext cx="8257909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PREDICTIVE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23674" y="2575616"/>
            <a:ext cx="3127793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POTENTIAL INPUTS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04624" y="5396552"/>
            <a:ext cx="3127793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23674" y="7500308"/>
            <a:ext cx="3127793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23674" y="2949059"/>
            <a:ext cx="4102554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Engagement score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Experience score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Session behaviour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Data consumption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Network performance metrics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704624" y="5886773"/>
            <a:ext cx="4554676" cy="118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Determine which measurable customer/network characteristics are most strongly associated with the satisfaction measure.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23674" y="8116767"/>
            <a:ext cx="410255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R²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RMSE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854387"/>
            <a:ext cx="7164418" cy="199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A REGRESSION MODEL WAS PLANNED/IMPLEMENTED TO INVESTIGATE THE RELATIONSHIP BETWEEN CUSTOMER SATISFACTION AND THE UNDERLYING ENGAGEMENT/EXPERIENCE VARIABLES.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38244" y="3460841"/>
            <a:ext cx="4604802" cy="4216216"/>
          </a:xfrm>
          <a:custGeom>
            <a:avLst/>
            <a:gdLst/>
            <a:ahLst/>
            <a:cxnLst/>
            <a:rect r="r" b="b" t="t" l="l"/>
            <a:pathLst>
              <a:path h="4216216" w="4604802">
                <a:moveTo>
                  <a:pt x="0" y="0"/>
                </a:moveTo>
                <a:lnTo>
                  <a:pt x="4604803" y="0"/>
                </a:lnTo>
                <a:lnTo>
                  <a:pt x="4604803" y="4216216"/>
                </a:lnTo>
                <a:lnTo>
                  <a:pt x="0" y="4216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834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47653"/>
            <a:ext cx="7620126" cy="183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3"/>
              </a:lnSpc>
              <a:spcBef>
                <a:spcPct val="0"/>
              </a:spcBef>
            </a:pPr>
            <a:r>
              <a:rPr lang="en-US" sz="6601">
                <a:solidFill>
                  <a:srgbClr val="F2EBE3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TECHNICAL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99715"/>
            <a:ext cx="526077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79891"/>
            <a:ext cx="316386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F2EBE3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TECHNOLOGIES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7707"/>
            <a:ext cx="3971668" cy="368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674"/>
              </a:lnSpc>
              <a:buFont typeface="Arial"/>
              <a:buChar char="•"/>
            </a:pPr>
            <a:r>
              <a:rPr lang="en-US" b="true" sz="2499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PYTHON</a:t>
            </a:r>
          </a:p>
          <a:p>
            <a:pPr algn="l" marL="539749" indent="-269875" lvl="1">
              <a:lnSpc>
                <a:spcPts val="2674"/>
              </a:lnSpc>
              <a:buFont typeface="Arial"/>
              <a:buChar char="•"/>
            </a:pPr>
            <a:r>
              <a:rPr lang="en-US" b="true" sz="2499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Pandas</a:t>
            </a:r>
          </a:p>
          <a:p>
            <a:pPr algn="l" marL="539749" indent="-269875" lvl="1">
              <a:lnSpc>
                <a:spcPts val="2674"/>
              </a:lnSpc>
              <a:buFont typeface="Arial"/>
              <a:buChar char="•"/>
            </a:pPr>
            <a:r>
              <a:rPr lang="en-US" b="true" sz="2499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NumPy</a:t>
            </a:r>
          </a:p>
          <a:p>
            <a:pPr algn="l" marL="539749" indent="-269875" lvl="1">
              <a:lnSpc>
                <a:spcPts val="2674"/>
              </a:lnSpc>
              <a:buFont typeface="Arial"/>
              <a:buChar char="•"/>
            </a:pPr>
            <a:r>
              <a:rPr lang="en-US" b="true" sz="2499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Scikit-learn</a:t>
            </a:r>
          </a:p>
          <a:p>
            <a:pPr algn="l" marL="539749" indent="-269875" lvl="1">
              <a:lnSpc>
                <a:spcPts val="2674"/>
              </a:lnSpc>
              <a:buFont typeface="Arial"/>
              <a:buChar char="•"/>
            </a:pPr>
            <a:r>
              <a:rPr lang="en-US" b="true" sz="2499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MySQL</a:t>
            </a:r>
          </a:p>
          <a:p>
            <a:pPr algn="l" marL="539749" indent="-269875" lvl="1">
              <a:lnSpc>
                <a:spcPts val="2674"/>
              </a:lnSpc>
              <a:buFont typeface="Arial"/>
              <a:buChar char="•"/>
            </a:pPr>
            <a:r>
              <a:rPr lang="en-US" b="true" sz="2499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MLflow</a:t>
            </a:r>
          </a:p>
          <a:p>
            <a:pPr algn="l" marL="539749" indent="-269875" lvl="1">
              <a:lnSpc>
                <a:spcPts val="2674"/>
              </a:lnSpc>
              <a:buFont typeface="Arial"/>
              <a:buChar char="•"/>
            </a:pPr>
            <a:r>
              <a:rPr lang="en-US" b="true" sz="2499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Power BI / Dashboard</a:t>
            </a:r>
          </a:p>
          <a:p>
            <a:pPr algn="l" marL="539749" indent="-269875" lvl="1">
              <a:lnSpc>
                <a:spcPts val="2674"/>
              </a:lnSpc>
              <a:buFont typeface="Arial"/>
              <a:buChar char="•"/>
            </a:pPr>
            <a:r>
              <a:rPr lang="en-US" b="true" sz="2499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Docker</a:t>
            </a:r>
          </a:p>
          <a:p>
            <a:pPr algn="l" marL="539749" indent="-269875" lvl="1">
              <a:lnSpc>
                <a:spcPts val="2674"/>
              </a:lnSpc>
              <a:buFont typeface="Arial"/>
              <a:buChar char="•"/>
            </a:pPr>
            <a:r>
              <a:rPr lang="en-US" b="true" sz="2499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Git / CI-CD</a:t>
            </a:r>
          </a:p>
          <a:p>
            <a:pPr algn="l">
              <a:lnSpc>
                <a:spcPts val="2674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076472" y="3441821"/>
            <a:ext cx="5730347" cy="4235236"/>
          </a:xfrm>
          <a:custGeom>
            <a:avLst/>
            <a:gdLst/>
            <a:ahLst/>
            <a:cxnLst/>
            <a:rect r="r" b="b" t="t" l="l"/>
            <a:pathLst>
              <a:path h="4235236" w="5730347">
                <a:moveTo>
                  <a:pt x="0" y="0"/>
                </a:moveTo>
                <a:lnTo>
                  <a:pt x="5730346" y="0"/>
                </a:lnTo>
                <a:lnTo>
                  <a:pt x="5730346" y="4235236"/>
                </a:lnTo>
                <a:lnTo>
                  <a:pt x="0" y="4235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3883" r="0" b="-9442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05670" y="3082931"/>
            <a:ext cx="10052712" cy="6416201"/>
          </a:xfrm>
          <a:custGeom>
            <a:avLst/>
            <a:gdLst/>
            <a:ahLst/>
            <a:cxnLst/>
            <a:rect r="r" b="b" t="t" l="l"/>
            <a:pathLst>
              <a:path h="6416201" w="10052712">
                <a:moveTo>
                  <a:pt x="0" y="0"/>
                </a:moveTo>
                <a:lnTo>
                  <a:pt x="10052712" y="0"/>
                </a:lnTo>
                <a:lnTo>
                  <a:pt x="10052712" y="6416201"/>
                </a:lnTo>
                <a:lnTo>
                  <a:pt x="0" y="6416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98041" y="846926"/>
            <a:ext cx="10691919" cy="9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5"/>
              </a:lnSpc>
              <a:spcBef>
                <a:spcPct val="0"/>
              </a:spcBef>
            </a:pPr>
            <a:r>
              <a:rPr lang="en-US" sz="65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DASHBOARD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75967" y="1869440"/>
            <a:ext cx="8336065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0"/>
              </a:lnSpc>
              <a:spcBef>
                <a:spcPct val="0"/>
              </a:spcBef>
            </a:pPr>
            <a:r>
              <a:rPr lang="en-US" b="true" sz="2000">
                <a:solidFill>
                  <a:srgbClr val="1C1C1C"/>
                </a:solidFill>
                <a:latin typeface="Raleway Bold"/>
                <a:ea typeface="Raleway Bold"/>
                <a:cs typeface="Raleway Bold"/>
                <a:sym typeface="Raleway Bold"/>
              </a:rPr>
              <a:t>BUISNESS INTELLIGENCE LAYER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7703" y="5162550"/>
            <a:ext cx="4450352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DASHBOARD KPIS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8919" y="5736480"/>
            <a:ext cx="4409531" cy="390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568"/>
              </a:lnSpc>
              <a:buFont typeface="Arial"/>
              <a:buChar char="•"/>
            </a:pPr>
            <a:r>
              <a:rPr lang="en-US" sz="24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TOTAL CUSTOMERS</a:t>
            </a:r>
          </a:p>
          <a:p>
            <a:pPr algn="l" marL="518160" indent="-259080" lvl="1">
              <a:lnSpc>
                <a:spcPts val="2568"/>
              </a:lnSpc>
              <a:buFont typeface="Arial"/>
              <a:buChar char="•"/>
            </a:pPr>
            <a:r>
              <a:rPr lang="en-US" sz="24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Average sessions/customer</a:t>
            </a:r>
          </a:p>
          <a:p>
            <a:pPr algn="l" marL="518160" indent="-259080" lvl="1">
              <a:lnSpc>
                <a:spcPts val="2568"/>
              </a:lnSpc>
              <a:buFont typeface="Arial"/>
              <a:buChar char="•"/>
            </a:pPr>
            <a:r>
              <a:rPr lang="en-US" sz="24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Average engagement</a:t>
            </a:r>
          </a:p>
          <a:p>
            <a:pPr algn="l" marL="518160" indent="-259080" lvl="1">
              <a:lnSpc>
                <a:spcPts val="2568"/>
              </a:lnSpc>
              <a:buFont typeface="Arial"/>
              <a:buChar char="•"/>
            </a:pPr>
            <a:r>
              <a:rPr lang="en-US" sz="24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Average experience</a:t>
            </a:r>
          </a:p>
          <a:p>
            <a:pPr algn="l" marL="518160" indent="-259080" lvl="1">
              <a:lnSpc>
                <a:spcPts val="2568"/>
              </a:lnSpc>
              <a:buFont typeface="Arial"/>
              <a:buChar char="•"/>
            </a:pPr>
            <a:r>
              <a:rPr lang="en-US" sz="24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Satisfaction distribution</a:t>
            </a:r>
          </a:p>
          <a:p>
            <a:pPr algn="l" marL="518160" indent="-259080" lvl="1">
              <a:lnSpc>
                <a:spcPts val="2568"/>
              </a:lnSpc>
              <a:buFont typeface="Arial"/>
              <a:buChar char="•"/>
            </a:pPr>
            <a:r>
              <a:rPr lang="en-US" sz="24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Customer segments</a:t>
            </a:r>
          </a:p>
          <a:p>
            <a:pPr algn="l" marL="518160" indent="-259080" lvl="1">
              <a:lnSpc>
                <a:spcPts val="2568"/>
              </a:lnSpc>
              <a:buFont typeface="Arial"/>
              <a:buChar char="•"/>
            </a:pPr>
            <a:r>
              <a:rPr lang="en-US" sz="24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Handset distribution</a:t>
            </a:r>
          </a:p>
          <a:p>
            <a:pPr algn="l" marL="518160" indent="-259080" lvl="1">
              <a:lnSpc>
                <a:spcPts val="2568"/>
              </a:lnSpc>
              <a:buFont typeface="Arial"/>
              <a:buChar char="•"/>
            </a:pPr>
            <a:r>
              <a:rPr lang="en-US" sz="240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Network performance</a:t>
            </a:r>
          </a:p>
          <a:p>
            <a:pPr algn="l">
              <a:lnSpc>
                <a:spcPts val="25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55062"/>
            <a:ext cx="13613946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1250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71575" y="3402963"/>
            <a:ext cx="179511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58325" y="3495675"/>
            <a:ext cx="282954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QUALITY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831838"/>
            <a:ext cx="282954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ENGAGEMENT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58325" y="5934075"/>
            <a:ext cx="282954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499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58614"/>
            <a:ext cx="4773942" cy="122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Raleway Light"/>
                <a:ea typeface="Raleway Light"/>
                <a:cs typeface="Raleway Light"/>
                <a:sym typeface="Raleway Light"/>
              </a:rPr>
              <a:t>150,001 INITIAL RECORDS</a:t>
            </a:r>
          </a:p>
          <a:p>
            <a:pPr algn="l" marL="453390" indent="-226695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Raleway Light"/>
                <a:ea typeface="Raleway Light"/>
                <a:cs typeface="Raleway Light"/>
                <a:sym typeface="Raleway Light"/>
              </a:rPr>
              <a:t>148,506 records after cleaning</a:t>
            </a:r>
          </a:p>
          <a:p>
            <a:pPr algn="l" marL="453390" indent="-226695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Raleway Light"/>
                <a:ea typeface="Raleway Light"/>
                <a:cs typeface="Raleway Light"/>
                <a:sym typeface="Raleway Light"/>
              </a:rPr>
              <a:t>106,856 unique customers</a:t>
            </a:r>
          </a:p>
          <a:p>
            <a:pPr algn="l">
              <a:lnSpc>
                <a:spcPts val="189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498588"/>
            <a:ext cx="5625208" cy="217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AVERAGE CUSTOMER HAS APPROXIMATELY 1.39 SESSIONS</a:t>
            </a:r>
          </a:p>
          <a:p>
            <a:pPr algn="l" marL="453390" indent="-226695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Customer engagement varies considerably</a:t>
            </a:r>
          </a:p>
          <a:p>
            <a:pPr algn="l" marL="453390" indent="-226695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Engagement scoring allows customers to be ranked and segmented</a:t>
            </a:r>
          </a:p>
          <a:p>
            <a:pPr algn="l">
              <a:lnSpc>
                <a:spcPts val="1890"/>
              </a:lnSpc>
            </a:pPr>
          </a:p>
          <a:p>
            <a:pPr algn="l">
              <a:lnSpc>
                <a:spcPts val="189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058325" y="6600825"/>
            <a:ext cx="6826394" cy="169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21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NETWORK QUALITY CAN BE CHARACTERIZED THROUGH:</a:t>
            </a:r>
          </a:p>
          <a:p>
            <a:pPr algn="l">
              <a:lnSpc>
                <a:spcPts val="1890"/>
              </a:lnSpc>
            </a:pPr>
          </a:p>
          <a:p>
            <a:pPr algn="l" marL="453390" indent="-226695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Raleway Light"/>
                <a:ea typeface="Raleway Light"/>
                <a:cs typeface="Raleway Light"/>
                <a:sym typeface="Raleway Light"/>
              </a:rPr>
              <a:t>TCP retransmission</a:t>
            </a:r>
          </a:p>
          <a:p>
            <a:pPr algn="l" marL="453390" indent="-226695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Raleway Light"/>
                <a:ea typeface="Raleway Light"/>
                <a:cs typeface="Raleway Light"/>
                <a:sym typeface="Raleway Light"/>
              </a:rPr>
              <a:t>RTT</a:t>
            </a:r>
          </a:p>
          <a:p>
            <a:pPr algn="l" marL="453390" indent="-226695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Raleway Light"/>
                <a:ea typeface="Raleway Light"/>
                <a:cs typeface="Raleway Light"/>
                <a:sym typeface="Raleway Light"/>
              </a:rPr>
              <a:t>Throughput</a:t>
            </a:r>
          </a:p>
          <a:p>
            <a:pPr algn="l">
              <a:lnSpc>
                <a:spcPts val="189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907136" y="4158614"/>
            <a:ext cx="9807127" cy="98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8" indent="-226699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1C1C1C"/>
                </a:solidFill>
                <a:latin typeface="Raleway Light"/>
                <a:ea typeface="Raleway Light"/>
                <a:cs typeface="Raleway Light"/>
                <a:sym typeface="Raleway Light"/>
              </a:rPr>
              <a:t>SIGNIFICANT MISSINGNESS EXISTS IN SELECTED NETWORK VARIABLES</a:t>
            </a:r>
          </a:p>
          <a:p>
            <a:pPr algn="l" marL="453398" indent="-226699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1C1C1C"/>
                </a:solidFill>
                <a:latin typeface="Raleway Light"/>
                <a:ea typeface="Raleway Light"/>
                <a:cs typeface="Raleway Light"/>
                <a:sym typeface="Raleway Light"/>
              </a:rPr>
              <a:t>Several features show very high correlation/redundancy</a:t>
            </a:r>
          </a:p>
          <a:p>
            <a:pPr algn="l" marL="453398" indent="-226699" lvl="1">
              <a:lnSpc>
                <a:spcPts val="1890"/>
              </a:lnSpc>
              <a:buFont typeface="Arial"/>
              <a:buChar char="•"/>
            </a:pPr>
            <a:r>
              <a:rPr lang="en-US" sz="2100">
                <a:solidFill>
                  <a:srgbClr val="1C1C1C"/>
                </a:solidFill>
                <a:latin typeface="Raleway Light"/>
                <a:ea typeface="Raleway Light"/>
                <a:cs typeface="Raleway Light"/>
                <a:sym typeface="Raleway Light"/>
              </a:rPr>
              <a:t>Outliers are present in throughput-related variables</a:t>
            </a:r>
          </a:p>
          <a:p>
            <a:pPr algn="l">
              <a:lnSpc>
                <a:spcPts val="189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1101271"/>
            <a:ext cx="16316325" cy="146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5"/>
              </a:lnSpc>
            </a:pPr>
            <a:r>
              <a:rPr lang="en-US" sz="1250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23992"/>
            <a:ext cx="3335729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THE ANALYSIS ENABLES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69173" y="3423992"/>
            <a:ext cx="3349653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  <a:spcBef>
                <a:spcPct val="0"/>
              </a:spcBef>
            </a:pPr>
            <a:r>
              <a:rPr lang="en-US" sz="200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2975" y="4432523"/>
            <a:ext cx="4490715" cy="423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Better understanding of customer behaviour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Identification of engagement patterns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Detection of network experience differences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Customer segmentation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Data-driven satisfaction analysis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Potential support for customer retention and acquisition strategies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316573" y="4432523"/>
            <a:ext cx="4005137" cy="458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Improve predictive satisfaction modeling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Deploy real-time customer scoring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Integrate additional customer/business data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Automate model retraining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Monitor model performance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Expand dashboard capabilities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Deploy the complete pipeline using Docker/CI-CD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DAHWdLanyBs</dc:identifier>
  <dcterms:modified xsi:type="dcterms:W3CDTF">2011-08-01T06:04:30Z</dcterms:modified>
  <cp:revision>1</cp:revision>
  <dc:title>Project 5</dc:title>
</cp:coreProperties>
</file>